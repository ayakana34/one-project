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[0:00~0:15 / 15초]</a:t>
            </a:r>
          </a:p>
          <a:p>
            <a:r>
              <a:t>안녕하세요, 김슬빈입니다. 한 달 동안 혼자 만든 2D 횡스크롤 액션 'One Weapon'을 소개하겠습니다.</a:t>
            </a:r>
          </a:p>
          <a:p>
            <a:r>
              <a:t>한 줄로 말하면, 무기가 단 하나뿐이라서 던지는 순간 무방비가 되는 게임입니다.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[0:15~0:50 / 35초]</a:t>
            </a:r>
          </a:p>
          <a:p>
            <a:r>
              <a:t>규칙은 간단합니다. 좌클릭으로 무기를 던지면 적이나 벽에 맞고 튕겨 나갑니다. 그 순간 저는 공격 수단이 없습니다.</a:t>
            </a:r>
          </a:p>
          <a:p>
            <a:r>
              <a:t>떨어진 무기에 다가가서 주워야 다시 싸울 수 있어요. 적 사이로 떨어진 무기를 언제, 어떻게 주울지 정하는 판단이 이 게임의 재미입니다.</a:t>
            </a:r>
          </a:p>
          <a:p>
            <a:r>
              <a:t>참고한 게임은 던그리드이고, 메타 성장 없이 던지기와 회수에 집중해서 한 달 안에 끝낼 범위로 줄였습니다.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[0:50~1:30 / 40초]</a:t>
            </a:r>
          </a:p>
          <a:p>
            <a:r>
              <a:t>핵심 재미를 만드는 숫자 네 가지입니다.</a:t>
            </a:r>
          </a:p>
          <a:p>
            <a:r>
              <a:t>대쉬는 마우스 방향으로 나가고 3번 충전돼서 연속으로 쓸 수 있어요. 대쉬 중에는 무적이라 회피와 무기 쪽 접근을 한 동작으로 합쳤습니다.</a:t>
            </a:r>
          </a:p>
          <a:p>
            <a:r>
              <a:t>튕김은 30% 확률로 완전히 랜덤하게 튀어서 같은 상황이 반복되지 않습니다.</a:t>
            </a:r>
          </a:p>
          <a:p>
            <a:r>
              <a:t>회수 스킬은 룬을 먹으면 해금되는 Q 키로, 쿨타임 4초이고 돌아오는 길의 적도 맞힙니다.</a:t>
            </a:r>
          </a:p>
          <a:p>
            <a:r>
              <a:t>조작은 아래 다섯 가지가 전부입니다.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[1:30~2:10 / 40초]</a:t>
            </a:r>
          </a:p>
          <a:p>
            <a:r>
              <a:t>한 판은 네 구간입니다. 스테이지 1, 룬의 동굴, 스테이지 2, 그리고 보스.</a:t>
            </a:r>
          </a:p>
          <a:p>
            <a:r>
              <a:t>스테이지 1은 일부러 낮은 지형이라 아직 회수가 없어도 무기를 줍기 쉽습니다. 룬의 동굴에서 회수의 룬을 먹으면 Q 회수가 열리고, 스테이지 2는 높은 성벽과 탑이 있어서 회수가 필요해집니다.</a:t>
            </a:r>
          </a:p>
          <a:p>
            <a:r>
              <a:t>몬스터를 모두 잡아야 출구가 열리고, 체력은 회복되지 않습니다. 모두 합쳐 몬스터 27마리와 보스 하나입니다.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[2:10~2:55 / 45초]</a:t>
            </a:r>
          </a:p>
          <a:p>
            <a:r>
              <a:t>보스는 바위 골렘 '대지의 파수꾼'입니다. 체력 200이고, 패턴은 두 가지예요.</a:t>
            </a:r>
          </a:p>
          <a:p>
            <a:r>
              <a:t>돌진은 0.8초 예고 뒤에 직선으로 달려오고, 내려찍기는 착지하면 충격파가 양쪽으로 퍼집니다. 둘 다 예고가 있어서 대쉬나 점프로 피할 수 있습니다.</a:t>
            </a:r>
          </a:p>
          <a:p>
            <a:r>
              <a:t>체력이 절반이 되면 붉게 포효하며 광분합니다. 더 빨라지고 돌진이 두 번 연속으로 나갑니다.</a:t>
            </a:r>
          </a:p>
          <a:p>
            <a:r>
              <a:t>등장할 때는 바위가 깨지며 나오는 컷신, 쓰러뜨릴 때는 슬로모션 연출을 넣었습니다.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[2:55~3:35 / 40초]</a:t>
            </a:r>
          </a:p>
          <a:p>
            <a:r>
              <a:t>개발은 MVP, CBT, OBT, 출시의 네 단계로 나눴습니다.</a:t>
            </a:r>
          </a:p>
          <a:p>
            <a:r>
              <a:t>MVP는 도형 아트로 던지기, 튕김, 대쉬를 먼저 검증했고, CBT에서 넓은 스테이지와 도트 몬스터, 3D 캐릭터를 넣었습니다. OBT에서는 라운드 반복을 없애고 한 판 클리어형으로 바꾸면서 룬의 동굴, 보스 패턴, 컷신, 타격 이펙트를 만들었어요.</a:t>
            </a:r>
          </a:p>
          <a:p>
            <a:r>
              <a:t>먼저 재미를 검증하고 그다음에 외형을 입히는 순서였습니다.</a:t>
            </a:r>
          </a:p>
          <a:p>
            <a:r>
              <a:t>도구는 Unity와 GitHub이고, 도트 몬스터와 3D 모델의 초안은 AI 도구 VARCO로 만들어 Blender로 보정했습니다. 구현과 점검에는 Claude Code와 Unity MCP를 썼습니다.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[3:35~4:10 / 35초]</a:t>
            </a:r>
          </a:p>
          <a:p>
            <a:r>
              <a:t>정리하면, 스테이지 2개와 룬의 동굴, 보스로 이어지는 한 판 구조를 완성했고 핵심 전투와 보스 연출까지 들어가 있습니다.</a:t>
            </a:r>
          </a:p>
          <a:p>
            <a:r>
              <a:t>아직 남은 것도 솔직하게 말씀드리면, 지금은 효과음과 배경음이 전혀 없습니다. 그리고 분량이 짧아서 한 판이 2분에서 5분 정도이고, 익숙해지면 더 빨리 끝납니다. 그래서 스테이지와 몬스터, 보스 패턴을 늘려 분량을 키우는 것이 다음 과제입니다.</a:t>
            </a:r>
          </a:p>
          <a:p>
            <a:r>
              <a:t>여기까지 설명드렸고, 시연을 보여드린 뒤 질문을 받겠습니다.</a:t>
            </a:r>
          </a:p>
          <a:p>
            <a:r>
              <a:t>※ 시연 방식(라이브/영상)은 아직 미정 — 발표 전에 결정해서 이 장의 문구를 맞출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3A82B"/>
                </a:solidFill>
                <a:latin typeface="맑은 고딕"/>
                <a:ea typeface="맑은 고딕"/>
                <a:cs typeface="맑은 고딕"/>
              </a:rPr>
              <a:t>게임 기획 · 개발 발표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2194560"/>
            <a:ext cx="56692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ONE WEAPON</a:t>
            </a:r>
          </a:p>
        </p:txBody>
      </p:sp>
      <p:sp>
        <p:nvSpPr>
          <p:cNvPr id="4" name="Tagline"/>
          <p:cNvSpPr txBox="1"/>
          <p:nvPr/>
        </p:nvSpPr>
        <p:spPr>
          <a:xfrm>
            <a:off x="640080" y="365760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E3A82B"/>
                </a:solidFill>
                <a:latin typeface="맑은 고딕"/>
                <a:ea typeface="맑은 고딕"/>
                <a:cs typeface="맑은 고딕"/>
              </a:rPr>
              <a:t>던지고, 줍고, 살아남아라</a:t>
            </a:r>
          </a:p>
        </p:txBody>
      </p:sp>
      <p:sp>
        <p:nvSpPr>
          <p:cNvPr id="5" name="Author"/>
          <p:cNvSpPr txBox="1"/>
          <p:nvPr/>
        </p:nvSpPr>
        <p:spPr>
          <a:xfrm>
            <a:off x="640080" y="48463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김슬빈  ·  1인 개발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640080" y="525780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2026.09.29 – 10.28  ·  Unity 6 · PC</a:t>
            </a:r>
          </a:p>
        </p:txBody>
      </p:sp>
      <p:pic>
        <p:nvPicPr>
          <p:cNvPr id="7" name="Screenshot-boss" descr="boss_intro2_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28800"/>
            <a:ext cx="5394960" cy="3034665"/>
          </a:xfrm>
          <a:prstGeom prst="roundRect">
            <a:avLst>
              <a:gd name="adj" fmla="val 4000"/>
            </a:avLst>
          </a:prstGeom>
        </p:spPr>
      </p:pic>
      <p:sp>
        <p:nvSpPr>
          <p:cNvPr id="8" name="Caption"/>
          <p:cNvSpPr txBox="1"/>
          <p:nvPr/>
        </p:nvSpPr>
        <p:spPr>
          <a:xfrm>
            <a:off x="6583680" y="5000625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최종 보스 · 대지의 파수꾼 등장 장면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무기는 단 하나뿐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던지는 순간 무방비가 되고, 되찾아야 다시 싸울 수 있다</a:t>
            </a:r>
          </a:p>
        </p:txBody>
      </p:sp>
      <p:sp>
        <p:nvSpPr>
          <p:cNvPr id="4" name="Card-1"/>
          <p:cNvSpPr/>
          <p:nvPr/>
        </p:nvSpPr>
        <p:spPr>
          <a:xfrm>
            <a:off x="640080" y="2286000"/>
            <a:ext cx="5669280" cy="1234440"/>
          </a:xfrm>
          <a:prstGeom prst="roundRect">
            <a:avLst>
              <a:gd name="adj" fmla="val 11111"/>
            </a:avLst>
          </a:prstGeom>
          <a:solidFill>
            <a:srgbClr val="1C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578608"/>
            <a:ext cx="640080" cy="640080"/>
          </a:xfrm>
          <a:prstGeom prst="ellipse">
            <a:avLst/>
          </a:prstGeom>
          <a:solidFill>
            <a:srgbClr val="E3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1131A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Step-1"/>
          <p:cNvSpPr txBox="1"/>
          <p:nvPr/>
        </p:nvSpPr>
        <p:spPr>
          <a:xfrm>
            <a:off x="1783080" y="244144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던진다</a:t>
            </a:r>
          </a:p>
        </p:txBody>
      </p:sp>
      <p:sp>
        <p:nvSpPr>
          <p:cNvPr id="7" name="StepDesc-1"/>
          <p:cNvSpPr txBox="1"/>
          <p:nvPr/>
        </p:nvSpPr>
        <p:spPr>
          <a:xfrm>
            <a:off x="1783080" y="2852928"/>
            <a:ext cx="4343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마우스로 조준하고 좌클릭. 무기가 직선으로 날아간다</a:t>
            </a:r>
          </a:p>
        </p:txBody>
      </p:sp>
      <p:sp>
        <p:nvSpPr>
          <p:cNvPr id="8" name="Card-2"/>
          <p:cNvSpPr/>
          <p:nvPr/>
        </p:nvSpPr>
        <p:spPr>
          <a:xfrm>
            <a:off x="640080" y="3657600"/>
            <a:ext cx="5669280" cy="1234440"/>
          </a:xfrm>
          <a:prstGeom prst="roundRect">
            <a:avLst>
              <a:gd name="adj" fmla="val 11111"/>
            </a:avLst>
          </a:prstGeom>
          <a:solidFill>
            <a:srgbClr val="1C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950208"/>
            <a:ext cx="640080" cy="640080"/>
          </a:xfrm>
          <a:prstGeom prst="ellipse">
            <a:avLst/>
          </a:prstGeom>
          <a:solidFill>
            <a:srgbClr val="5EC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1131A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Step-2"/>
          <p:cNvSpPr txBox="1"/>
          <p:nvPr/>
        </p:nvSpPr>
        <p:spPr>
          <a:xfrm>
            <a:off x="1783080" y="381304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튕긴다</a:t>
            </a:r>
          </a:p>
        </p:txBody>
      </p:sp>
      <p:sp>
        <p:nvSpPr>
          <p:cNvPr id="11" name="StepDesc-2"/>
          <p:cNvSpPr txBox="1"/>
          <p:nvPr/>
        </p:nvSpPr>
        <p:spPr>
          <a:xfrm>
            <a:off x="1783080" y="4224528"/>
            <a:ext cx="4343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맞으면 반사되어 방향이 매번 달라지고, 튕겨 다니는 동안에도 피해를 준다</a:t>
            </a:r>
          </a:p>
        </p:txBody>
      </p:sp>
      <p:sp>
        <p:nvSpPr>
          <p:cNvPr id="12" name="Card-3"/>
          <p:cNvSpPr/>
          <p:nvPr/>
        </p:nvSpPr>
        <p:spPr>
          <a:xfrm>
            <a:off x="640080" y="5029200"/>
            <a:ext cx="5669280" cy="1234440"/>
          </a:xfrm>
          <a:prstGeom prst="roundRect">
            <a:avLst>
              <a:gd name="adj" fmla="val 11111"/>
            </a:avLst>
          </a:prstGeom>
          <a:solidFill>
            <a:srgbClr val="1C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5321808"/>
            <a:ext cx="640080" cy="640080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11131A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Step-3"/>
          <p:cNvSpPr txBox="1"/>
          <p:nvPr/>
        </p:nvSpPr>
        <p:spPr>
          <a:xfrm>
            <a:off x="1783080" y="518464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줍는다</a:t>
            </a:r>
          </a:p>
        </p:txBody>
      </p:sp>
      <p:sp>
        <p:nvSpPr>
          <p:cNvPr id="15" name="StepDesc-3"/>
          <p:cNvSpPr txBox="1"/>
          <p:nvPr/>
        </p:nvSpPr>
        <p:spPr>
          <a:xfrm>
            <a:off x="1783080" y="5596128"/>
            <a:ext cx="4343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다가가면 다시 든다. 멀면 Q 회수로 불러온다</a:t>
            </a:r>
          </a:p>
        </p:txBody>
      </p:sp>
      <p:pic>
        <p:nvPicPr>
          <p:cNvPr id="16" name="Screenshot-stage2" descr="stage2_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286000"/>
            <a:ext cx="4937760" cy="2777490"/>
          </a:xfrm>
          <a:prstGeom prst="roundRect">
            <a:avLst>
              <a:gd name="adj" fmla="val 4000"/>
            </a:avLst>
          </a:prstGeom>
        </p:spPr>
      </p:pic>
      <p:sp>
        <p:nvSpPr>
          <p:cNvPr id="17" name="Caption"/>
          <p:cNvSpPr txBox="1"/>
          <p:nvPr/>
        </p:nvSpPr>
        <p:spPr>
          <a:xfrm>
            <a:off x="6675120" y="520065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스테이지 2 · 몬스터가 쫓아오고 슈터가 탄을 쏜다</a:t>
            </a:r>
          </a:p>
        </p:txBody>
      </p:sp>
      <p:sp>
        <p:nvSpPr>
          <p:cNvPr id="18" name="PageNo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재미는 '되찾는 순간의 판단'</a:t>
            </a:r>
          </a:p>
        </p:txBody>
      </p:sp>
      <p:sp>
        <p:nvSpPr>
          <p:cNvPr id="3" name="Stat-card-1"/>
          <p:cNvSpPr/>
          <p:nvPr/>
        </p:nvSpPr>
        <p:spPr>
          <a:xfrm>
            <a:off x="640080" y="1508760"/>
            <a:ext cx="2606040" cy="2880360"/>
          </a:xfrm>
          <a:prstGeom prst="roundRect">
            <a:avLst>
              <a:gd name="adj" fmla="val 5263"/>
            </a:avLst>
          </a:prstGeom>
          <a:solidFill>
            <a:srgbClr val="1C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-num-1"/>
          <p:cNvSpPr txBox="1"/>
          <p:nvPr/>
        </p:nvSpPr>
        <p:spPr>
          <a:xfrm>
            <a:off x="868680" y="169164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0" b="1">
                <a:solidFill>
                  <a:srgbClr val="E3A82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5" name="Stat-label-1"/>
          <p:cNvSpPr txBox="1"/>
          <p:nvPr/>
        </p:nvSpPr>
        <p:spPr>
          <a:xfrm>
            <a:off x="868680" y="27889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대쉬 충전</a:t>
            </a:r>
          </a:p>
        </p:txBody>
      </p:sp>
      <p:sp>
        <p:nvSpPr>
          <p:cNvPr id="6" name="Stat-desc-1"/>
          <p:cNvSpPr txBox="1"/>
          <p:nvPr/>
        </p:nvSpPr>
        <p:spPr>
          <a:xfrm>
            <a:off x="868680" y="324612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대쉬 중에는 무적. 연타하면 이어서 나간다</a:t>
            </a:r>
          </a:p>
        </p:txBody>
      </p:sp>
      <p:sp>
        <p:nvSpPr>
          <p:cNvPr id="7" name="Stat-card-2"/>
          <p:cNvSpPr/>
          <p:nvPr/>
        </p:nvSpPr>
        <p:spPr>
          <a:xfrm>
            <a:off x="3429000" y="1508760"/>
            <a:ext cx="2606040" cy="2880360"/>
          </a:xfrm>
          <a:prstGeom prst="roundRect">
            <a:avLst>
              <a:gd name="adj" fmla="val 5263"/>
            </a:avLst>
          </a:prstGeom>
          <a:solidFill>
            <a:srgbClr val="1C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-num-2"/>
          <p:cNvSpPr txBox="1"/>
          <p:nvPr/>
        </p:nvSpPr>
        <p:spPr>
          <a:xfrm>
            <a:off x="3657600" y="169164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0" b="1">
                <a:solidFill>
                  <a:srgbClr val="5EC8DA"/>
                </a:solidFill>
                <a:latin typeface="맑은 고딕"/>
                <a:ea typeface="맑은 고딕"/>
                <a:cs typeface="맑은 고딕"/>
              </a:rPr>
              <a:t>30%</a:t>
            </a:r>
          </a:p>
        </p:txBody>
      </p:sp>
      <p:sp>
        <p:nvSpPr>
          <p:cNvPr id="9" name="Stat-label-2"/>
          <p:cNvSpPr txBox="1"/>
          <p:nvPr/>
        </p:nvSpPr>
        <p:spPr>
          <a:xfrm>
            <a:off x="3657600" y="27889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완전 랜덤 튕김</a:t>
            </a:r>
          </a:p>
        </p:txBody>
      </p:sp>
      <p:sp>
        <p:nvSpPr>
          <p:cNvPr id="10" name="Stat-desc-2"/>
          <p:cNvSpPr txBox="1"/>
          <p:nvPr/>
        </p:nvSpPr>
        <p:spPr>
          <a:xfrm>
            <a:off x="3657600" y="324612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맞은 무기가 반사되어 방향이 매번 달라진다</a:t>
            </a:r>
          </a:p>
        </p:txBody>
      </p:sp>
      <p:sp>
        <p:nvSpPr>
          <p:cNvPr id="11" name="Stat-card-3"/>
          <p:cNvSpPr/>
          <p:nvPr/>
        </p:nvSpPr>
        <p:spPr>
          <a:xfrm>
            <a:off x="6217920" y="1508760"/>
            <a:ext cx="2606040" cy="2880360"/>
          </a:xfrm>
          <a:prstGeom prst="roundRect">
            <a:avLst>
              <a:gd name="adj" fmla="val 5263"/>
            </a:avLst>
          </a:prstGeom>
          <a:solidFill>
            <a:srgbClr val="1C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-num-3"/>
          <p:cNvSpPr txBox="1"/>
          <p:nvPr/>
        </p:nvSpPr>
        <p:spPr>
          <a:xfrm>
            <a:off x="6446520" y="169164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0" b="1">
                <a:solidFill>
                  <a:srgbClr val="5EC8DA"/>
                </a:solidFill>
                <a:latin typeface="맑은 고딕"/>
                <a:ea typeface="맑은 고딕"/>
                <a:cs typeface="맑은 고딕"/>
              </a:rPr>
              <a:t>4초</a:t>
            </a:r>
          </a:p>
        </p:txBody>
      </p:sp>
      <p:sp>
        <p:nvSpPr>
          <p:cNvPr id="13" name="Stat-label-3"/>
          <p:cNvSpPr txBox="1"/>
          <p:nvPr/>
        </p:nvSpPr>
        <p:spPr>
          <a:xfrm>
            <a:off x="6446520" y="27889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회수 쿨타임</a:t>
            </a:r>
          </a:p>
        </p:txBody>
      </p:sp>
      <p:sp>
        <p:nvSpPr>
          <p:cNvPr id="14" name="Stat-desc-3"/>
          <p:cNvSpPr txBox="1"/>
          <p:nvPr/>
        </p:nvSpPr>
        <p:spPr>
          <a:xfrm>
            <a:off x="6446520" y="324612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Q로 무기를 즉시 부르고, 오는 길의 적도 맞힌다</a:t>
            </a:r>
          </a:p>
        </p:txBody>
      </p:sp>
      <p:sp>
        <p:nvSpPr>
          <p:cNvPr id="15" name="Stat-card-4"/>
          <p:cNvSpPr/>
          <p:nvPr/>
        </p:nvSpPr>
        <p:spPr>
          <a:xfrm>
            <a:off x="9006840" y="1508760"/>
            <a:ext cx="2606040" cy="2880360"/>
          </a:xfrm>
          <a:prstGeom prst="roundRect">
            <a:avLst>
              <a:gd name="adj" fmla="val 5263"/>
            </a:avLst>
          </a:prstGeom>
          <a:solidFill>
            <a:srgbClr val="1C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-num-4"/>
          <p:cNvSpPr txBox="1"/>
          <p:nvPr/>
        </p:nvSpPr>
        <p:spPr>
          <a:xfrm>
            <a:off x="9235440" y="169164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0" b="1">
                <a:solidFill>
                  <a:srgbClr val="E2554F"/>
                </a:solidFill>
                <a:latin typeface="맑은 고딕"/>
                <a:ea typeface="맑은 고딕"/>
                <a:cs typeface="맑은 고딕"/>
              </a:rPr>
              <a:t>200</a:t>
            </a:r>
          </a:p>
        </p:txBody>
      </p:sp>
      <p:sp>
        <p:nvSpPr>
          <p:cNvPr id="17" name="Stat-label-4"/>
          <p:cNvSpPr txBox="1"/>
          <p:nvPr/>
        </p:nvSpPr>
        <p:spPr>
          <a:xfrm>
            <a:off x="9235440" y="27889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보스 체력</a:t>
            </a:r>
          </a:p>
        </p:txBody>
      </p:sp>
      <p:sp>
        <p:nvSpPr>
          <p:cNvPr id="18" name="Stat-desc-4"/>
          <p:cNvSpPr txBox="1"/>
          <p:nvPr/>
        </p:nvSpPr>
        <p:spPr>
          <a:xfrm>
            <a:off x="9235440" y="324612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패턴을 읽고 피한다. 절반이 되면 광분한다</a:t>
            </a:r>
          </a:p>
        </p:txBody>
      </p:sp>
      <p:sp>
        <p:nvSpPr>
          <p:cNvPr id="19" name="Controls-label"/>
          <p:cNvSpPr txBox="1"/>
          <p:nvPr/>
        </p:nvSpPr>
        <p:spPr>
          <a:xfrm>
            <a:off x="640080" y="4709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3A82B"/>
                </a:solidFill>
                <a:latin typeface="맑은 고딕"/>
                <a:ea typeface="맑은 고딕"/>
                <a:cs typeface="맑은 고딕"/>
              </a:rPr>
              <a:t>조작</a:t>
            </a:r>
          </a:p>
        </p:txBody>
      </p:sp>
      <p:sp>
        <p:nvSpPr>
          <p:cNvPr id="20" name="Key-1"/>
          <p:cNvSpPr/>
          <p:nvPr/>
        </p:nvSpPr>
        <p:spPr>
          <a:xfrm>
            <a:off x="640080" y="507492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26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ey-name-1"/>
          <p:cNvSpPr txBox="1"/>
          <p:nvPr/>
        </p:nvSpPr>
        <p:spPr>
          <a:xfrm>
            <a:off x="777240" y="5166360"/>
            <a:ext cx="18287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E3A82B"/>
                </a:solidFill>
                <a:latin typeface="맑은 고딕"/>
                <a:ea typeface="맑은 고딕"/>
                <a:cs typeface="맑은 고딕"/>
              </a:rPr>
              <a:t>A / D</a:t>
            </a:r>
          </a:p>
        </p:txBody>
      </p:sp>
      <p:sp>
        <p:nvSpPr>
          <p:cNvPr id="22" name="Key-desc-1"/>
          <p:cNvSpPr txBox="1"/>
          <p:nvPr/>
        </p:nvSpPr>
        <p:spPr>
          <a:xfrm>
            <a:off x="731519" y="5550408"/>
            <a:ext cx="192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좌우 이동</a:t>
            </a:r>
          </a:p>
        </p:txBody>
      </p:sp>
      <p:sp>
        <p:nvSpPr>
          <p:cNvPr id="23" name="Key-2"/>
          <p:cNvSpPr/>
          <p:nvPr/>
        </p:nvSpPr>
        <p:spPr>
          <a:xfrm>
            <a:off x="2857500" y="507492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26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Key-name-2"/>
          <p:cNvSpPr txBox="1"/>
          <p:nvPr/>
        </p:nvSpPr>
        <p:spPr>
          <a:xfrm>
            <a:off x="2994660" y="5166360"/>
            <a:ext cx="18287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E3A82B"/>
                </a:solidFill>
                <a:latin typeface="맑은 고딕"/>
                <a:ea typeface="맑은 고딕"/>
                <a:cs typeface="맑은 고딕"/>
              </a:rPr>
              <a:t>Space</a:t>
            </a:r>
          </a:p>
        </p:txBody>
      </p:sp>
      <p:sp>
        <p:nvSpPr>
          <p:cNvPr id="25" name="Key-desc-2"/>
          <p:cNvSpPr txBox="1"/>
          <p:nvPr/>
        </p:nvSpPr>
        <p:spPr>
          <a:xfrm>
            <a:off x="2948940" y="5550408"/>
            <a:ext cx="192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점프</a:t>
            </a:r>
          </a:p>
        </p:txBody>
      </p:sp>
      <p:sp>
        <p:nvSpPr>
          <p:cNvPr id="26" name="Key-3"/>
          <p:cNvSpPr/>
          <p:nvPr/>
        </p:nvSpPr>
        <p:spPr>
          <a:xfrm>
            <a:off x="5074920" y="507492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26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ey-name-3"/>
          <p:cNvSpPr txBox="1"/>
          <p:nvPr/>
        </p:nvSpPr>
        <p:spPr>
          <a:xfrm>
            <a:off x="5212080" y="5166360"/>
            <a:ext cx="18287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E3A82B"/>
                </a:solidFill>
                <a:latin typeface="맑은 고딕"/>
                <a:ea typeface="맑은 고딕"/>
                <a:cs typeface="맑은 고딕"/>
              </a:rPr>
              <a:t>좌클릭</a:t>
            </a:r>
          </a:p>
        </p:txBody>
      </p:sp>
      <p:sp>
        <p:nvSpPr>
          <p:cNvPr id="28" name="Key-desc-3"/>
          <p:cNvSpPr txBox="1"/>
          <p:nvPr/>
        </p:nvSpPr>
        <p:spPr>
          <a:xfrm>
            <a:off x="5166359" y="5550408"/>
            <a:ext cx="192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조준 방향으로 던지기</a:t>
            </a:r>
          </a:p>
        </p:txBody>
      </p:sp>
      <p:sp>
        <p:nvSpPr>
          <p:cNvPr id="29" name="Key-4"/>
          <p:cNvSpPr/>
          <p:nvPr/>
        </p:nvSpPr>
        <p:spPr>
          <a:xfrm>
            <a:off x="7292340" y="507492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26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Key-name-4"/>
          <p:cNvSpPr txBox="1"/>
          <p:nvPr/>
        </p:nvSpPr>
        <p:spPr>
          <a:xfrm>
            <a:off x="7429500" y="5166360"/>
            <a:ext cx="18287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E3A82B"/>
                </a:solidFill>
                <a:latin typeface="맑은 고딕"/>
                <a:ea typeface="맑은 고딕"/>
                <a:cs typeface="맑은 고딕"/>
              </a:rPr>
              <a:t>Shift / 우클릭</a:t>
            </a:r>
          </a:p>
        </p:txBody>
      </p:sp>
      <p:sp>
        <p:nvSpPr>
          <p:cNvPr id="31" name="Key-desc-4"/>
          <p:cNvSpPr txBox="1"/>
          <p:nvPr/>
        </p:nvSpPr>
        <p:spPr>
          <a:xfrm>
            <a:off x="7383779" y="5550408"/>
            <a:ext cx="192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마우스 방향 대쉬</a:t>
            </a:r>
          </a:p>
        </p:txBody>
      </p:sp>
      <p:sp>
        <p:nvSpPr>
          <p:cNvPr id="32" name="Key-5"/>
          <p:cNvSpPr/>
          <p:nvPr/>
        </p:nvSpPr>
        <p:spPr>
          <a:xfrm>
            <a:off x="9509759" y="507492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26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Key-name-5"/>
          <p:cNvSpPr txBox="1"/>
          <p:nvPr/>
        </p:nvSpPr>
        <p:spPr>
          <a:xfrm>
            <a:off x="9646919" y="5166360"/>
            <a:ext cx="18287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E3A82B"/>
                </a:solidFill>
                <a:latin typeface="맑은 고딕"/>
                <a:ea typeface="맑은 고딕"/>
                <a:cs typeface="맑은 고딕"/>
              </a:rPr>
              <a:t>Q</a:t>
            </a:r>
          </a:p>
        </p:txBody>
      </p:sp>
      <p:sp>
        <p:nvSpPr>
          <p:cNvPr id="34" name="Key-desc-5"/>
          <p:cNvSpPr txBox="1"/>
          <p:nvPr/>
        </p:nvSpPr>
        <p:spPr>
          <a:xfrm>
            <a:off x="9601199" y="5550408"/>
            <a:ext cx="192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무기 회수 (룬 획득 후)</a:t>
            </a:r>
          </a:p>
        </p:txBody>
      </p:sp>
      <p:sp>
        <p:nvSpPr>
          <p:cNvPr id="35" name="PageNo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 판의 흐름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스테이지 1 → 룬의 동굴 → 스테이지 2 → 보스, 한 번에 클리어</a:t>
            </a:r>
          </a:p>
        </p:txBody>
      </p:sp>
      <p:pic>
        <p:nvPicPr>
          <p:cNvPr id="4" name="Shot-1" descr="stage1b_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2514600" cy="2263140"/>
          </a:xfrm>
          <a:prstGeom prst="roundRect">
            <a:avLst>
              <a:gd name="adj" fmla="val 5000"/>
            </a:avLst>
          </a:prstGeom>
        </p:spPr>
      </p:pic>
      <p:sp>
        <p:nvSpPr>
          <p:cNvPr id="5" name="Flow-head-1"/>
          <p:cNvSpPr txBox="1"/>
          <p:nvPr/>
        </p:nvSpPr>
        <p:spPr>
          <a:xfrm>
            <a:off x="640080" y="427482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3A82B"/>
                </a:solidFill>
                <a:latin typeface="맑은 고딕"/>
                <a:ea typeface="맑은 고딕"/>
                <a:cs typeface="맑은 고딕"/>
              </a:rPr>
              <a:t>1  스테이지 1</a:t>
            </a:r>
          </a:p>
        </p:txBody>
      </p:sp>
      <p:sp>
        <p:nvSpPr>
          <p:cNvPr id="6" name="Flow-desc-1"/>
          <p:cNvSpPr txBox="1"/>
          <p:nvPr/>
        </p:nvSpPr>
        <p:spPr>
          <a:xfrm>
            <a:off x="640080" y="4686300"/>
            <a:ext cx="2514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몬스터 12마리를 잡으면 출구가 열린다. 낮은 지형이라 무기를 줍기 쉽다</a:t>
            </a:r>
          </a:p>
        </p:txBody>
      </p:sp>
      <p:sp>
        <p:nvSpPr>
          <p:cNvPr id="7" name="Arrow-1"/>
          <p:cNvSpPr/>
          <p:nvPr/>
        </p:nvSpPr>
        <p:spPr>
          <a:xfrm rot="5400000">
            <a:off x="3200400" y="2850641"/>
            <a:ext cx="182880" cy="219456"/>
          </a:xfrm>
          <a:prstGeom prst="triangle">
            <a:avLst/>
          </a:prstGeom>
          <a:solidFill>
            <a:srgbClr val="A3AB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Shot-2" descr="rune2_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828800"/>
            <a:ext cx="2514600" cy="2263140"/>
          </a:xfrm>
          <a:prstGeom prst="roundRect">
            <a:avLst>
              <a:gd name="adj" fmla="val 5000"/>
            </a:avLst>
          </a:prstGeom>
        </p:spPr>
      </p:pic>
      <p:sp>
        <p:nvSpPr>
          <p:cNvPr id="9" name="Flow-head-2"/>
          <p:cNvSpPr txBox="1"/>
          <p:nvPr/>
        </p:nvSpPr>
        <p:spPr>
          <a:xfrm>
            <a:off x="3429000" y="427482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3A82B"/>
                </a:solidFill>
                <a:latin typeface="맑은 고딕"/>
                <a:ea typeface="맑은 고딕"/>
                <a:cs typeface="맑은 고딕"/>
              </a:rPr>
              <a:t>2  룬의 동굴</a:t>
            </a:r>
          </a:p>
        </p:txBody>
      </p:sp>
      <p:sp>
        <p:nvSpPr>
          <p:cNvPr id="10" name="Flow-desc-2"/>
          <p:cNvSpPr txBox="1"/>
          <p:nvPr/>
        </p:nvSpPr>
        <p:spPr>
          <a:xfrm>
            <a:off x="3429000" y="4686300"/>
            <a:ext cx="2514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회수의 룬을 먹으면 Q 회수가 열린다. 먹지 않아도 지나갈 수 있다</a:t>
            </a:r>
          </a:p>
        </p:txBody>
      </p:sp>
      <p:sp>
        <p:nvSpPr>
          <p:cNvPr id="11" name="Arrow-2"/>
          <p:cNvSpPr/>
          <p:nvPr/>
        </p:nvSpPr>
        <p:spPr>
          <a:xfrm rot="5400000">
            <a:off x="5989320" y="2850641"/>
            <a:ext cx="182880" cy="219456"/>
          </a:xfrm>
          <a:prstGeom prst="triangle">
            <a:avLst/>
          </a:prstGeom>
          <a:solidFill>
            <a:srgbClr val="A3AB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hot-3" descr="stage2_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828800"/>
            <a:ext cx="2514600" cy="2263140"/>
          </a:xfrm>
          <a:prstGeom prst="roundRect">
            <a:avLst>
              <a:gd name="adj" fmla="val 5000"/>
            </a:avLst>
          </a:prstGeom>
        </p:spPr>
      </p:pic>
      <p:sp>
        <p:nvSpPr>
          <p:cNvPr id="13" name="Flow-head-3"/>
          <p:cNvSpPr txBox="1"/>
          <p:nvPr/>
        </p:nvSpPr>
        <p:spPr>
          <a:xfrm>
            <a:off x="6217920" y="427482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3A82B"/>
                </a:solidFill>
                <a:latin typeface="맑은 고딕"/>
                <a:ea typeface="맑은 고딕"/>
                <a:cs typeface="맑은 고딕"/>
              </a:rPr>
              <a:t>3  스테이지 2</a:t>
            </a:r>
          </a:p>
        </p:txBody>
      </p:sp>
      <p:sp>
        <p:nvSpPr>
          <p:cNvPr id="14" name="Flow-desc-3"/>
          <p:cNvSpPr txBox="1"/>
          <p:nvPr/>
        </p:nvSpPr>
        <p:spPr>
          <a:xfrm>
            <a:off x="6217920" y="4686300"/>
            <a:ext cx="2514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몬스터 15마리. 높은 성벽과 탑을 오르내리며 싸운다</a:t>
            </a:r>
          </a:p>
        </p:txBody>
      </p:sp>
      <p:sp>
        <p:nvSpPr>
          <p:cNvPr id="15" name="Arrow-3"/>
          <p:cNvSpPr/>
          <p:nvPr/>
        </p:nvSpPr>
        <p:spPr>
          <a:xfrm rot="5400000">
            <a:off x="8778240" y="2850641"/>
            <a:ext cx="182880" cy="219456"/>
          </a:xfrm>
          <a:prstGeom prst="triangle">
            <a:avLst/>
          </a:prstGeom>
          <a:solidFill>
            <a:srgbClr val="A3AB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hot-4" descr="boss_intro2_c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39" y="1828800"/>
            <a:ext cx="2514600" cy="2263140"/>
          </a:xfrm>
          <a:prstGeom prst="roundRect">
            <a:avLst>
              <a:gd name="adj" fmla="val 5000"/>
            </a:avLst>
          </a:prstGeom>
        </p:spPr>
      </p:pic>
      <p:sp>
        <p:nvSpPr>
          <p:cNvPr id="17" name="Flow-head-4"/>
          <p:cNvSpPr txBox="1"/>
          <p:nvPr/>
        </p:nvSpPr>
        <p:spPr>
          <a:xfrm>
            <a:off x="9006839" y="427482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2554F"/>
                </a:solidFill>
                <a:latin typeface="맑은 고딕"/>
                <a:ea typeface="맑은 고딕"/>
                <a:cs typeface="맑은 고딕"/>
              </a:rPr>
              <a:t>4  최종 보스</a:t>
            </a:r>
          </a:p>
        </p:txBody>
      </p:sp>
      <p:sp>
        <p:nvSpPr>
          <p:cNvPr id="18" name="Flow-desc-4"/>
          <p:cNvSpPr txBox="1"/>
          <p:nvPr/>
        </p:nvSpPr>
        <p:spPr>
          <a:xfrm>
            <a:off x="9006839" y="4686300"/>
            <a:ext cx="2514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도착하면 컷신이 나오고, 쓰러뜨리면 클리어 화면과 시간이 나온다</a:t>
            </a:r>
          </a:p>
        </p:txBody>
      </p:sp>
      <p:sp>
        <p:nvSpPr>
          <p:cNvPr id="19" name="Summary-bar"/>
          <p:cNvSpPr/>
          <p:nvPr/>
        </p:nvSpPr>
        <p:spPr>
          <a:xfrm>
            <a:off x="640080" y="5760720"/>
            <a:ext cx="10881360" cy="457200"/>
          </a:xfrm>
          <a:prstGeom prst="roundRect">
            <a:avLst>
              <a:gd name="adj" fmla="val 50000"/>
            </a:avLst>
          </a:prstGeom>
          <a:solidFill>
            <a:srgbClr val="1C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ummary-text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 판 = 몬스터 27마리 + 보스 1  ·  체력은 스테이지를 넘어가도 회복되지 않는다</a:t>
            </a:r>
          </a:p>
        </p:txBody>
      </p:sp>
      <p:sp>
        <p:nvSpPr>
          <p:cNvPr id="21" name="PageNo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보스 · 대지의 파수꾼</a:t>
            </a:r>
          </a:p>
        </p:txBody>
      </p:sp>
      <p:sp>
        <p:nvSpPr>
          <p:cNvPr id="3" name="Boss-card"/>
          <p:cNvSpPr/>
          <p:nvPr/>
        </p:nvSpPr>
        <p:spPr>
          <a:xfrm>
            <a:off x="640080" y="1463040"/>
            <a:ext cx="5486400" cy="4480560"/>
          </a:xfrm>
          <a:prstGeom prst="roundRect">
            <a:avLst>
              <a:gd name="adj" fmla="val 4081"/>
            </a:avLst>
          </a:prstGeom>
          <a:solidFill>
            <a:srgbClr val="1C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Boss-sprite-1" descr="spr_Boss_Id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79" y="2432009"/>
            <a:ext cx="1554480" cy="1353901"/>
          </a:xfrm>
          <a:prstGeom prst="rect">
            <a:avLst/>
          </a:prstGeom>
        </p:spPr>
      </p:pic>
      <p:sp>
        <p:nvSpPr>
          <p:cNvPr id="5" name="Boss-pose-1"/>
          <p:cNvSpPr txBox="1"/>
          <p:nvPr/>
        </p:nvSpPr>
        <p:spPr>
          <a:xfrm>
            <a:off x="868679" y="44805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평소</a:t>
            </a:r>
          </a:p>
        </p:txBody>
      </p:sp>
      <p:pic>
        <p:nvPicPr>
          <p:cNvPr id="6" name="Boss-sprite-2" descr="spr_Boss_Wind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2558913"/>
            <a:ext cx="1554480" cy="1100093"/>
          </a:xfrm>
          <a:prstGeom prst="rect">
            <a:avLst/>
          </a:prstGeom>
        </p:spPr>
      </p:pic>
      <p:sp>
        <p:nvSpPr>
          <p:cNvPr id="7" name="Boss-pose-2"/>
          <p:cNvSpPr txBox="1"/>
          <p:nvPr/>
        </p:nvSpPr>
        <p:spPr>
          <a:xfrm>
            <a:off x="2560320" y="44805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돌진 준비</a:t>
            </a:r>
          </a:p>
        </p:txBody>
      </p:sp>
      <p:pic>
        <p:nvPicPr>
          <p:cNvPr id="8" name="Boss-sprite-3" descr="spr_Boss_Char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2573811"/>
            <a:ext cx="1554480" cy="1070297"/>
          </a:xfrm>
          <a:prstGeom prst="rect">
            <a:avLst/>
          </a:prstGeom>
        </p:spPr>
      </p:pic>
      <p:sp>
        <p:nvSpPr>
          <p:cNvPr id="9" name="Boss-pose-3"/>
          <p:cNvSpPr txBox="1"/>
          <p:nvPr/>
        </p:nvSpPr>
        <p:spPr>
          <a:xfrm>
            <a:off x="4251960" y="44805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E2554F"/>
                </a:solidFill>
                <a:latin typeface="맑은 고딕"/>
                <a:ea typeface="맑은 고딕"/>
                <a:cs typeface="맑은 고딕"/>
              </a:rPr>
              <a:t>돌진</a:t>
            </a:r>
          </a:p>
        </p:txBody>
      </p:sp>
      <p:sp>
        <p:nvSpPr>
          <p:cNvPr id="10" name="Boss-caption"/>
          <p:cNvSpPr txBox="1"/>
          <p:nvPr/>
        </p:nvSpPr>
        <p:spPr>
          <a:xfrm>
            <a:off x="868680" y="507492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도트로 그린 세 가지 자세로 예고와 공격이 눈에 보이게 했다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0" y="1554480"/>
            <a:ext cx="594360" cy="594360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Boss-fact-1"/>
          <p:cNvSpPr txBox="1"/>
          <p:nvPr/>
        </p:nvSpPr>
        <p:spPr>
          <a:xfrm>
            <a:off x="7406640" y="149047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돌진</a:t>
            </a:r>
          </a:p>
        </p:txBody>
      </p:sp>
      <p:sp>
        <p:nvSpPr>
          <p:cNvPr id="13" name="Boss-fact-desc-1"/>
          <p:cNvSpPr txBox="1"/>
          <p:nvPr/>
        </p:nvSpPr>
        <p:spPr>
          <a:xfrm>
            <a:off x="7406640" y="192024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0.8초 예고 뒤 직선 돌진. 대쉬나 점프로 피한다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0" y="2697480"/>
            <a:ext cx="594360" cy="594360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Boss-fact-2"/>
          <p:cNvSpPr txBox="1"/>
          <p:nvPr/>
        </p:nvSpPr>
        <p:spPr>
          <a:xfrm>
            <a:off x="7406640" y="263347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점프 내려찍기</a:t>
            </a:r>
          </a:p>
        </p:txBody>
      </p:sp>
      <p:sp>
        <p:nvSpPr>
          <p:cNvPr id="16" name="Boss-fact-desc-2"/>
          <p:cNvSpPr txBox="1"/>
          <p:nvPr/>
        </p:nvSpPr>
        <p:spPr>
          <a:xfrm>
            <a:off x="7406640" y="306324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착지하면 충격파가 양쪽 지면으로 퍼진다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0" y="3840479"/>
            <a:ext cx="594360" cy="594360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Boss-fact-3"/>
          <p:cNvSpPr txBox="1"/>
          <p:nvPr/>
        </p:nvSpPr>
        <p:spPr>
          <a:xfrm>
            <a:off x="7406640" y="377647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광분 (체력 50% 이하)</a:t>
            </a:r>
          </a:p>
        </p:txBody>
      </p:sp>
      <p:sp>
        <p:nvSpPr>
          <p:cNvPr id="19" name="Boss-fact-desc-3"/>
          <p:cNvSpPr txBox="1"/>
          <p:nvPr/>
        </p:nvSpPr>
        <p:spPr>
          <a:xfrm>
            <a:off x="7406640" y="420624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붉게 포효하며 빨라지고, 돌진이 2연속으로 나간다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4983479"/>
            <a:ext cx="594360" cy="594360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1" name="Boss-fact-4"/>
          <p:cNvSpPr txBox="1"/>
          <p:nvPr/>
        </p:nvSpPr>
        <p:spPr>
          <a:xfrm>
            <a:off x="7406640" y="491947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등장과 처치 연출</a:t>
            </a:r>
          </a:p>
        </p:txBody>
      </p:sp>
      <p:sp>
        <p:nvSpPr>
          <p:cNvPr id="22" name="Boss-fact-desc-4"/>
          <p:cNvSpPr txBox="1"/>
          <p:nvPr/>
        </p:nvSpPr>
        <p:spPr>
          <a:xfrm>
            <a:off x="7406640" y="534924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바위가 깨지며 등장하는 컷신, 슬로모션 처치</a:t>
            </a:r>
          </a:p>
        </p:txBody>
      </p:sp>
      <p:sp>
        <p:nvSpPr>
          <p:cNvPr id="23" name="PageNo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 달, 혼자, 4단계</a:t>
            </a:r>
          </a:p>
        </p:txBody>
      </p:sp>
      <p:sp>
        <p:nvSpPr>
          <p:cNvPr id="3" name="Phase-card-1"/>
          <p:cNvSpPr/>
          <p:nvPr/>
        </p:nvSpPr>
        <p:spPr>
          <a:xfrm>
            <a:off x="640080" y="1417320"/>
            <a:ext cx="2606040" cy="2743200"/>
          </a:xfrm>
          <a:prstGeom prst="roundRect">
            <a:avLst>
              <a:gd name="adj" fmla="val 5263"/>
            </a:avLst>
          </a:prstGeom>
          <a:solidFill>
            <a:srgbClr val="1C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hase-name-1"/>
          <p:cNvSpPr txBox="1"/>
          <p:nvPr/>
        </p:nvSpPr>
        <p:spPr>
          <a:xfrm>
            <a:off x="868680" y="1572768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5EC8DA"/>
                </a:solidFill>
                <a:latin typeface="맑은 고딕"/>
                <a:ea typeface="맑은 고딕"/>
                <a:cs typeface="맑은 고딕"/>
              </a:rPr>
              <a:t>MVP</a:t>
            </a:r>
          </a:p>
        </p:txBody>
      </p:sp>
      <p:sp>
        <p:nvSpPr>
          <p:cNvPr id="5" name="Phase-date-1"/>
          <p:cNvSpPr txBox="1"/>
          <p:nvPr/>
        </p:nvSpPr>
        <p:spPr>
          <a:xfrm>
            <a:off x="868680" y="210312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10/8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514600"/>
            <a:ext cx="695960" cy="329184"/>
          </a:xfrm>
          <a:prstGeom prst="roundRect">
            <a:avLst>
              <a:gd name="adj" fmla="val 50000"/>
            </a:avLst>
          </a:prstGeom>
          <a:solidFill>
            <a:srgbClr val="5EC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>
                <a:solidFill>
                  <a:srgbClr val="11131A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7" name="Phase-desc-1"/>
          <p:cNvSpPr txBox="1"/>
          <p:nvPr/>
        </p:nvSpPr>
        <p:spPr>
          <a:xfrm>
            <a:off x="868680" y="301752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던지기·튕김·대쉬, 라운드 반복, 회수 스킬. 도형 아트로 재미부터 검증</a:t>
            </a:r>
          </a:p>
        </p:txBody>
      </p:sp>
      <p:sp>
        <p:nvSpPr>
          <p:cNvPr id="8" name="Phase-card-2"/>
          <p:cNvSpPr/>
          <p:nvPr/>
        </p:nvSpPr>
        <p:spPr>
          <a:xfrm>
            <a:off x="3429000" y="1417320"/>
            <a:ext cx="2606040" cy="2743200"/>
          </a:xfrm>
          <a:prstGeom prst="roundRect">
            <a:avLst>
              <a:gd name="adj" fmla="val 5263"/>
            </a:avLst>
          </a:prstGeom>
          <a:solidFill>
            <a:srgbClr val="1C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hase-name-2"/>
          <p:cNvSpPr txBox="1"/>
          <p:nvPr/>
        </p:nvSpPr>
        <p:spPr>
          <a:xfrm>
            <a:off x="3657600" y="1572768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5EC8DA"/>
                </a:solidFill>
                <a:latin typeface="맑은 고딕"/>
                <a:ea typeface="맑은 고딕"/>
                <a:cs typeface="맑은 고딕"/>
              </a:rPr>
              <a:t>CBT</a:t>
            </a:r>
          </a:p>
        </p:txBody>
      </p:sp>
      <p:sp>
        <p:nvSpPr>
          <p:cNvPr id="10" name="Phase-date-2"/>
          <p:cNvSpPr txBox="1"/>
          <p:nvPr/>
        </p:nvSpPr>
        <p:spPr>
          <a:xfrm>
            <a:off x="3657600" y="210312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10/9 – 10/16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514600"/>
            <a:ext cx="695960" cy="329184"/>
          </a:xfrm>
          <a:prstGeom prst="roundRect">
            <a:avLst>
              <a:gd name="adj" fmla="val 50000"/>
            </a:avLst>
          </a:prstGeom>
          <a:solidFill>
            <a:srgbClr val="5EC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>
                <a:solidFill>
                  <a:srgbClr val="11131A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2" name="Phase-desc-2"/>
          <p:cNvSpPr txBox="1"/>
          <p:nvPr/>
        </p:nvSpPr>
        <p:spPr>
          <a:xfrm>
            <a:off x="3657600" y="301752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넓은 스테이지 맵, 도트 몬스터, 3D 캐릭터와 단검</a:t>
            </a:r>
          </a:p>
        </p:txBody>
      </p:sp>
      <p:sp>
        <p:nvSpPr>
          <p:cNvPr id="13" name="Phase-card-3"/>
          <p:cNvSpPr/>
          <p:nvPr/>
        </p:nvSpPr>
        <p:spPr>
          <a:xfrm>
            <a:off x="6217920" y="1417320"/>
            <a:ext cx="2606040" cy="2743200"/>
          </a:xfrm>
          <a:prstGeom prst="roundRect">
            <a:avLst>
              <a:gd name="adj" fmla="val 5263"/>
            </a:avLst>
          </a:prstGeom>
          <a:solidFill>
            <a:srgbClr val="1C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ase-name-3"/>
          <p:cNvSpPr txBox="1"/>
          <p:nvPr/>
        </p:nvSpPr>
        <p:spPr>
          <a:xfrm>
            <a:off x="6446520" y="1572768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5EC8DA"/>
                </a:solidFill>
                <a:latin typeface="맑은 고딕"/>
                <a:ea typeface="맑은 고딕"/>
                <a:cs typeface="맑은 고딕"/>
              </a:rPr>
              <a:t>OBT</a:t>
            </a:r>
          </a:p>
        </p:txBody>
      </p:sp>
      <p:sp>
        <p:nvSpPr>
          <p:cNvPr id="15" name="Phase-date-3"/>
          <p:cNvSpPr txBox="1"/>
          <p:nvPr/>
        </p:nvSpPr>
        <p:spPr>
          <a:xfrm>
            <a:off x="6446520" y="210312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10/17 – 10/24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514600"/>
            <a:ext cx="695960" cy="329184"/>
          </a:xfrm>
          <a:prstGeom prst="roundRect">
            <a:avLst>
              <a:gd name="adj" fmla="val 50000"/>
            </a:avLst>
          </a:prstGeom>
          <a:solidFill>
            <a:srgbClr val="5EC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>
                <a:solidFill>
                  <a:srgbClr val="11131A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7" name="Phase-desc-3"/>
          <p:cNvSpPr txBox="1"/>
          <p:nvPr/>
        </p:nvSpPr>
        <p:spPr>
          <a:xfrm>
            <a:off x="6446520" y="301752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 판 클리어형으로 정리. 룬의 동굴, 보스 패턴·컷신, 타격 이펙트</a:t>
            </a:r>
          </a:p>
        </p:txBody>
      </p:sp>
      <p:sp>
        <p:nvSpPr>
          <p:cNvPr id="18" name="Phase-card-4"/>
          <p:cNvSpPr/>
          <p:nvPr/>
        </p:nvSpPr>
        <p:spPr>
          <a:xfrm>
            <a:off x="9006840" y="1417320"/>
            <a:ext cx="2606040" cy="2743200"/>
          </a:xfrm>
          <a:prstGeom prst="roundRect">
            <a:avLst>
              <a:gd name="adj" fmla="val 5263"/>
            </a:avLst>
          </a:prstGeom>
          <a:solidFill>
            <a:srgbClr val="1C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hase-name-4"/>
          <p:cNvSpPr txBox="1"/>
          <p:nvPr/>
        </p:nvSpPr>
        <p:spPr>
          <a:xfrm>
            <a:off x="9235440" y="1572768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3A82B"/>
                </a:solidFill>
                <a:latin typeface="맑은 고딕"/>
                <a:ea typeface="맑은 고딕"/>
                <a:cs typeface="맑은 고딕"/>
              </a:rPr>
              <a:t>출시</a:t>
            </a:r>
          </a:p>
        </p:txBody>
      </p:sp>
      <p:sp>
        <p:nvSpPr>
          <p:cNvPr id="20" name="Phase-date-4"/>
          <p:cNvSpPr txBox="1"/>
          <p:nvPr/>
        </p:nvSpPr>
        <p:spPr>
          <a:xfrm>
            <a:off x="9235440" y="210312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10/25 – 10/28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514600"/>
            <a:ext cx="951865" cy="329184"/>
          </a:xfrm>
          <a:prstGeom prst="roundRect">
            <a:avLst>
              <a:gd name="adj" fmla="val 50000"/>
            </a:avLst>
          </a:prstGeom>
          <a:solidFill>
            <a:srgbClr val="E3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>
                <a:solidFill>
                  <a:srgbClr val="11131A"/>
                </a:solidFill>
                <a:latin typeface="맑은 고딕"/>
                <a:ea typeface="맑은 고딕"/>
                <a:cs typeface="맑은 고딕"/>
              </a:rPr>
              <a:t>진행 중</a:t>
            </a:r>
          </a:p>
        </p:txBody>
      </p:sp>
      <p:sp>
        <p:nvSpPr>
          <p:cNvPr id="22" name="Phase-desc-4"/>
          <p:cNvSpPr txBox="1"/>
          <p:nvPr/>
        </p:nvSpPr>
        <p:spPr>
          <a:xfrm>
            <a:off x="9235440" y="301752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빌드 안정화와 시연 동선 정리. 효과음은 시간이 남으면</a:t>
            </a:r>
          </a:p>
        </p:txBody>
      </p:sp>
      <p:sp>
        <p:nvSpPr>
          <p:cNvPr id="23" name="Tools-label"/>
          <p:cNvSpPr txBox="1"/>
          <p:nvPr/>
        </p:nvSpPr>
        <p:spPr>
          <a:xfrm>
            <a:off x="640080" y="4480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3A82B"/>
                </a:solidFill>
                <a:latin typeface="맑은 고딕"/>
                <a:ea typeface="맑은 고딕"/>
                <a:cs typeface="맑은 고딕"/>
              </a:rPr>
              <a:t>사용한 도구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846320"/>
            <a:ext cx="1783334" cy="420624"/>
          </a:xfrm>
          <a:prstGeom prst="roundRect">
            <a:avLst>
              <a:gd name="adj" fmla="val 50000"/>
            </a:avLst>
          </a:prstGeom>
          <a:solidFill>
            <a:srgbClr val="26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Unity 6 · URP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0574" y="4846320"/>
            <a:ext cx="1685544" cy="420624"/>
          </a:xfrm>
          <a:prstGeom prst="roundRect">
            <a:avLst>
              <a:gd name="adj" fmla="val 50000"/>
            </a:avLst>
          </a:prstGeom>
          <a:solidFill>
            <a:srgbClr val="26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Input System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3278" y="4846320"/>
            <a:ext cx="2690114" cy="420624"/>
          </a:xfrm>
          <a:prstGeom prst="roundRect">
            <a:avLst>
              <a:gd name="adj" fmla="val 50000"/>
            </a:avLst>
          </a:prstGeom>
          <a:solidFill>
            <a:srgbClr val="26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VARCO · AI 도트/3D 초안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10552" y="4846320"/>
            <a:ext cx="2138934" cy="420624"/>
          </a:xfrm>
          <a:prstGeom prst="roundRect">
            <a:avLst>
              <a:gd name="adj" fmla="val 50000"/>
            </a:avLst>
          </a:prstGeom>
          <a:solidFill>
            <a:srgbClr val="26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Blender · 3D 보정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413248"/>
            <a:ext cx="2761234" cy="420624"/>
          </a:xfrm>
          <a:prstGeom prst="roundRect">
            <a:avLst>
              <a:gd name="adj" fmla="val 50000"/>
            </a:avLst>
          </a:prstGeom>
          <a:solidFill>
            <a:srgbClr val="26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Claude Code + Unity MCP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38474" y="5413248"/>
            <a:ext cx="1098804" cy="420624"/>
          </a:xfrm>
          <a:prstGeom prst="roundRect">
            <a:avLst>
              <a:gd name="adj" fmla="val 50000"/>
            </a:avLst>
          </a:prstGeom>
          <a:solidFill>
            <a:srgbClr val="26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GitHub</a:t>
            </a:r>
          </a:p>
        </p:txBody>
      </p:sp>
      <p:sp>
        <p:nvSpPr>
          <p:cNvPr id="30" name="PageNo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3" name="Done-card"/>
          <p:cNvSpPr/>
          <p:nvPr/>
        </p:nvSpPr>
        <p:spPr>
          <a:xfrm>
            <a:off x="640080" y="1417320"/>
            <a:ext cx="5349240" cy="4389120"/>
          </a:xfrm>
          <a:prstGeom prst="roundRect">
            <a:avLst>
              <a:gd name="adj" fmla="val 3125"/>
            </a:avLst>
          </a:prstGeom>
          <a:solidFill>
            <a:srgbClr val="1C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e-title"/>
          <p:cNvSpPr txBox="1"/>
          <p:nvPr/>
        </p:nvSpPr>
        <p:spPr>
          <a:xfrm>
            <a:off x="914400" y="160020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5EC8DA"/>
                </a:solidFill>
                <a:latin typeface="맑은 고딕"/>
                <a:ea typeface="맑은 고딕"/>
                <a:cs typeface="맑은 고딕"/>
              </a:rPr>
              <a:t>완성한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8463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600"/>
              </a:spcAft>
              <a:buClr>
                <a:srgbClr val="5EC8DA"/>
              </a:buClr>
              <a:buFont typeface="Arial"/>
              <a:buChar char="•"/>
            </a:pPr>
            <a:r>
              <a:rPr sz="20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스테이지 2개, 룬의 동굴, 보스까지 한 판</a:t>
            </a:r>
          </a:p>
          <a:p>
            <a:pPr marL="274320" indent="-274320">
              <a:spcAft>
                <a:spcPts val="1600"/>
              </a:spcAft>
              <a:buClr>
                <a:srgbClr val="5EC8DA"/>
              </a:buClr>
              <a:buFont typeface="Arial"/>
              <a:buChar char="•"/>
            </a:pPr>
            <a:r>
              <a:rPr sz="20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던지기·튕김·대쉬·회수, 핵심 전투</a:t>
            </a:r>
          </a:p>
          <a:p>
            <a:pPr marL="274320" indent="-274320">
              <a:spcAft>
                <a:spcPts val="1600"/>
              </a:spcAft>
              <a:buClr>
                <a:srgbClr val="5EC8DA"/>
              </a:buClr>
              <a:buFont typeface="Arial"/>
              <a:buChar char="•"/>
            </a:pPr>
            <a:r>
              <a:rPr sz="20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보스 컷신·광분·처치 연출, 타격 이펙트</a:t>
            </a:r>
          </a:p>
          <a:p>
            <a:pPr marL="274320" indent="-274320">
              <a:spcAft>
                <a:spcPts val="1600"/>
              </a:spcAft>
              <a:buClr>
                <a:srgbClr val="5EC8DA"/>
              </a:buClr>
              <a:buFont typeface="Arial"/>
              <a:buChar char="•"/>
            </a:pPr>
            <a:r>
              <a:rPr sz="20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3D 캐릭터와 도트 몬스터를 섞은 아트</a:t>
            </a:r>
          </a:p>
        </p:txBody>
      </p:sp>
      <p:sp>
        <p:nvSpPr>
          <p:cNvPr id="6" name="Todo-card"/>
          <p:cNvSpPr/>
          <p:nvPr/>
        </p:nvSpPr>
        <p:spPr>
          <a:xfrm>
            <a:off x="6217920" y="1417320"/>
            <a:ext cx="5349240" cy="4389120"/>
          </a:xfrm>
          <a:prstGeom prst="roundRect">
            <a:avLst>
              <a:gd name="adj" fmla="val 3125"/>
            </a:avLst>
          </a:prstGeom>
          <a:solidFill>
            <a:srgbClr val="1C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odo-title"/>
          <p:cNvSpPr txBox="1"/>
          <p:nvPr/>
        </p:nvSpPr>
        <p:spPr>
          <a:xfrm>
            <a:off x="6492240" y="160020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3A82B"/>
                </a:solidFill>
                <a:latin typeface="맑은 고딕"/>
                <a:ea typeface="맑은 고딕"/>
                <a:cs typeface="맑은 고딕"/>
              </a:rPr>
              <a:t>남은 과제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8463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600"/>
              </a:spcAft>
              <a:buClr>
                <a:srgbClr val="E3A82B"/>
              </a:buClr>
              <a:buFont typeface="Arial"/>
              <a:buChar char="•"/>
            </a:pPr>
            <a:r>
              <a:rPr sz="20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효과음과 배경음 (지금은 완전히 무음)</a:t>
            </a:r>
          </a:p>
          <a:p>
            <a:pPr marL="274320" indent="-274320">
              <a:spcAft>
                <a:spcPts val="1600"/>
              </a:spcAft>
              <a:buClr>
                <a:srgbClr val="E3A82B"/>
              </a:buClr>
              <a:buFont typeface="Arial"/>
              <a:buChar char="•"/>
            </a:pPr>
            <a:r>
              <a:rPr sz="20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게임 분량이 짧다 (한 판 약 2~5분, 익숙해지면 더 짧아진다)</a:t>
            </a:r>
          </a:p>
          <a:p>
            <a:pPr marL="274320" indent="-274320">
              <a:spcAft>
                <a:spcPts val="1600"/>
              </a:spcAft>
              <a:buClr>
                <a:srgbClr val="E3A82B"/>
              </a:buClr>
              <a:buFont typeface="Arial"/>
              <a:buChar char="•"/>
            </a:pPr>
            <a:r>
              <a:rPr sz="20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분량 확대: 스테이지·몬스터·보스 추가</a:t>
            </a:r>
          </a:p>
          <a:p>
            <a:pPr marL="274320" indent="-274320">
              <a:spcAft>
                <a:spcPts val="1600"/>
              </a:spcAft>
              <a:buClr>
                <a:srgbClr val="E3A82B"/>
              </a:buClr>
              <a:buFont typeface="Arial"/>
              <a:buChar char="•"/>
            </a:pPr>
            <a:r>
              <a:rPr sz="20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몬스터 걷기·피격 애니메이션, 배경 그림</a:t>
            </a:r>
          </a:p>
        </p:txBody>
      </p:sp>
      <p:sp>
        <p:nvSpPr>
          <p:cNvPr id="9" name="PageNo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A3ABBD"/>
                </a:solidFill>
                <a:latin typeface="맑은 고딕"/>
                <a:ea typeface="맑은 고딕"/>
                <a:cs typeface="맑은 고딕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Weapon 발표자료</dc:title>
  <dc:subject/>
  <dc:creator>김슬빈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